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theme" Target="theme/theme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7"/>
          <p:cNvSpPr txBox="1"/>
          <p:nvPr>
            <p:ph type="body" idx="1"/>
          </p:nvPr>
        </p:nvSpPr>
        <p:spPr>
          <a:xfrm>
            <a:off x="457200" y="91440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 &amp; &lt;review&gt; "test"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The presentation summarizes saved results. Use the CSV export for complete evidence.</a:t>
            </a:r>
            <a:endParaRPr lang="en-US"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20"/>
          <p:cNvSpPr txBox="1"/>
          <p:nvPr>
            <p:ph type="body" idx="1"/>
          </p:nvPr>
        </p:nvSpPr>
        <p:spPr>
          <a:xfrm>
            <a:off x="457200" y="91440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 &amp; &lt;review&gt; "test"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The presentation summarizes saved results. Use the CSV export for complete evidence.</a:t>
            </a:r>
            <a:endParaRPr lang="en-US"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23"/>
          <p:cNvSpPr txBox="1"/>
          <p:nvPr>
            <p:ph type="body" idx="1"/>
          </p:nvPr>
        </p:nvSpPr>
        <p:spPr>
          <a:xfrm>
            <a:off x="457200" y="91440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 &amp; &lt;review&gt; "test"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The presentation summarizes saved results. Use the CSV export for complete evidence.</a:t>
            </a:r>
            <a:endParaRPr lang="en-US"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26"/>
          <p:cNvSpPr txBox="1"/>
          <p:nvPr>
            <p:ph type="body" idx="1"/>
          </p:nvPr>
        </p:nvSpPr>
        <p:spPr>
          <a:xfrm>
            <a:off x="457200" y="914400"/>
            <a:ext cx="5486400" cy="7315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 &amp; &lt;review&gt; "test"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/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100"/>
          </a:p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The presentation summarizes saved results. Use the CSV export for complete evidence.</a:t>
            </a:r>
            <a:endParaRPr lang="en-US"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200" b="1">
                <a:solidFill>
                  <a:srgbClr val="282923"/>
                </a:solidFill>
                <a:latin typeface="Arial"/>
              </a:rPr>
              <a:t xml:space="preserve">Oracle Linux Value Navigator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548640" y="16459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000" b="1">
                <a:solidFill>
                  <a:srgbClr val="B84032"/>
                </a:solidFill>
                <a:latin typeface="Arial"/>
              </a:rPr>
              <a:t xml:space="preserve">Demo &amp; &lt;review&gt; "test"</a:t>
            </a:r>
            <a:endParaRPr lang="en-US" sz="3000"/>
          </a:p>
        </p:txBody>
      </p:sp>
      <p:sp>
        <p:nvSpPr>
          <p:cNvPr id="4" name="Text 4"/>
          <p:cNvSpPr txBox="1"/>
          <p:nvPr/>
        </p:nvSpPr>
        <p:spPr>
          <a:xfrm>
            <a:off x="548640" y="33375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400" b="0">
                <a:solidFill>
                  <a:srgbClr val="282923"/>
                </a:solidFill>
                <a:latin typeface="Arial"/>
              </a:rPr>
              <a:t xml:space="preserve">Confirmed subscription-cost comparison</a:t>
            </a:r>
            <a:endParaRPr lang="en-US" sz="2400"/>
          </a:p>
        </p:txBody>
      </p:sp>
      <p:sp>
        <p:nvSpPr>
          <p:cNvPr id="5" name="Text 5"/>
          <p:cNvSpPr txBox="1"/>
          <p:nvPr/>
        </p:nvSpPr>
        <p:spPr>
          <a:xfrm>
            <a:off x="548640" y="43891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800" b="0">
                <a:solidFill>
                  <a:srgbClr val="282923"/>
                </a:solidFill>
                <a:latin typeface="Arial"/>
              </a:rPr>
              <a:t xml:space="preserve">Comparison 1</a:t>
            </a:r>
            <a:endParaRPr lang="en-US" sz="1800"/>
          </a:p>
          <a:p>
            <a:pPr/>
            <a:r>
              <a:rPr lang="en-US" sz="1800" b="0">
                <a:solidFill>
                  <a:srgbClr val="282923"/>
                </a:solidFill>
                <a:latin typeface="Arial"/>
              </a:rPr>
              <a:t xml:space="preserve">Rule: workshop-v1</a:t>
            </a:r>
            <a:endParaRPr lang="en-US" sz="1800"/>
          </a:p>
          <a:p>
            <a:pPr/>
            <a:r>
              <a:rPr lang="en-US" sz="1800" b="0">
                <a:solidFill>
                  <a:srgbClr val="282923"/>
                </a:solidFill>
                <a:latin typeface="Arial"/>
              </a:rPr>
              <a:t xml:space="preserve">Calculated: 2026-09-09 12:00:00 (database time)</a:t>
            </a:r>
            <a:endParaRPr lang="en-US" sz="1800"/>
          </a:p>
        </p:txBody>
      </p:sp>
      <p:sp>
        <p:nvSpPr>
          <p:cNvPr id="15" name="Text 15"/>
          <p:cNvSpPr txBox="1"/>
          <p:nvPr/>
        </p:nvSpPr>
        <p:spPr>
          <a:xfrm>
            <a:off x="548640" y="644652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0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000"/>
          </a:p>
        </p:txBody>
      </p:sp>
      <p:sp>
        <p:nvSpPr>
          <p:cNvPr id="16" name="Text 16"/>
          <p:cNvSpPr txBox="1"/>
          <p:nvPr/>
        </p:nvSpPr>
        <p:spPr>
          <a:xfrm>
            <a:off x="11338560" y="64282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6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200" b="1">
                <a:solidFill>
                  <a:srgbClr val="282923"/>
                </a:solidFill>
                <a:latin typeface="Arial"/>
              </a:rPr>
              <a:t xml:space="preserve">Subscription-cost results</a:t>
            </a:r>
            <a:endParaRPr lang="en-US" sz="3200"/>
          </a:p>
        </p:txBody>
      </p:sp>
      <p:graphicFrame>
        <p:nvGraphicFramePr>
          <p:cNvPr id="7" name="Comparison table"/>
          <p:cNvGraphicFramePr/>
          <p:nvPr/>
        </p:nvGraphicFramePr>
        <p:xfrm>
          <a:off x="548640" y="1554480"/>
          <a:ext cx="11018520" cy="3108960"/>
        </p:xfrm>
        <a:graphic>
          <a:graphicData uri="http://schemas.openxmlformats.org/drawingml/2006/table">
            <a:tbl>
              <a:tblPr firstRow="1" bandRow="0"/>
              <a:tblGrid>
                <a:gridCol w="1920240"/>
                <a:gridCol w="2743200"/>
                <a:gridCol w="2743200"/>
                <a:gridCol w="3611880"/>
              </a:tblGrid>
              <a:tr h="777240">
                <a:tc>
                  <a:txBody>
                    <a:bodyPr/>
                    <a:lstStyle/>
                    <a:p>
                      <a:pPr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Period (USD)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RHEL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Oracle Linux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Difference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Annual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16,800.00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11,200.00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5,600.00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Three years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50,400.00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33,600.00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16,800.00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Five years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84,000.00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56,000.00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8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28,000.00</a:t>
                      </a:r>
                      <a:endParaRPr lang="en-US" sz="18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</a:tr>
            </a:tbl>
          </a:graphicData>
        </a:graphic>
      </p:graphicFrame>
      <p:sp>
        <p:nvSpPr>
          <p:cNvPr id="8" name="Text 8"/>
          <p:cNvSpPr txBox="1"/>
          <p:nvPr/>
        </p:nvSpPr>
        <p:spPr>
          <a:xfrm>
            <a:off x="548640" y="50749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000" b="0">
                <a:solidFill>
                  <a:srgbClr val="282923"/>
                </a:solidFill>
                <a:latin typeface="Arial"/>
              </a:rPr>
              <a:t xml:space="preserve">Difference = RHEL minus Oracle Linux. A negative difference means Oracle Linux costs more.</a:t>
            </a:r>
            <a:endParaRPr lang="en-US" sz="2000"/>
          </a:p>
        </p:txBody>
      </p:sp>
      <p:sp>
        <p:nvSpPr>
          <p:cNvPr id="18" name="Text 18"/>
          <p:cNvSpPr txBox="1"/>
          <p:nvPr/>
        </p:nvSpPr>
        <p:spPr>
          <a:xfrm>
            <a:off x="548640" y="644652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0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000"/>
          </a:p>
        </p:txBody>
      </p:sp>
      <p:sp>
        <p:nvSpPr>
          <p:cNvPr id="19" name="Text 19"/>
          <p:cNvSpPr txBox="1"/>
          <p:nvPr/>
        </p:nvSpPr>
        <p:spPr>
          <a:xfrm>
            <a:off x="11338560" y="64282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9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200" b="1">
                <a:solidFill>
                  <a:srgbClr val="282923"/>
                </a:solidFill>
                <a:latin typeface="Arial"/>
              </a:rPr>
              <a:t xml:space="preserve">Representative review</a:t>
            </a:r>
            <a:endParaRPr lang="en-US" sz="3200"/>
          </a:p>
        </p:txBody>
      </p:sp>
      <p:graphicFrame>
        <p:nvGraphicFramePr>
          <p:cNvPr id="10" name="Comparison table"/>
          <p:cNvGraphicFramePr/>
          <p:nvPr/>
        </p:nvGraphicFramePr>
        <p:xfrm>
          <a:off x="548640" y="1463040"/>
          <a:ext cx="11018520" cy="3429000"/>
        </p:xfrm>
        <a:graphic>
          <a:graphicData uri="http://schemas.openxmlformats.org/drawingml/2006/table">
            <a:tbl>
              <a:tblPr firstRow="1" bandRow="0"/>
              <a:tblGrid>
                <a:gridCol w="8275320"/>
                <a:gridCol w="2743200"/>
              </a:tblGrid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Review measure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1">
                          <a:solidFill>
                            <a:srgbClr val="FFFFFF"/>
                          </a:solidFill>
                          <a:latin typeface="Arial"/>
                        </a:rPr>
                        <a:t xml:space="preserve">Count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38423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Confirmed RHEL lines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Confirmed Oracle Linux lines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Aligned comparison groups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F8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Excluded lines (not in totals)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2000" b="0">
                          <a:solidFill>
                            <a:srgbClr val="282923"/>
                          </a:solidFill>
                          <a:latin typeface="Arial"/>
                        </a:rPr>
                        <a:t xml:space="preserve">1</a:t>
                      </a:r>
                      <a:endParaRPr lang="en-US" sz="2000"/>
                    </a:p>
                  </a:txBody>
                  <a:tcPr marL="100000" marR="100000" marT="65000" marB="50000">
                    <a:solidFill>
                      <a:srgbClr val="EEEAE1"/>
                    </a:solidFill>
                  </a:tcPr>
                </a:tc>
              </a:tr>
            </a:tbl>
          </a:graphicData>
        </a:graphic>
      </p:graphicFrame>
      <p:sp>
        <p:nvSpPr>
          <p:cNvPr id="11" name="Text 11"/>
          <p:cNvSpPr txBox="1"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000" b="0">
                <a:solidFill>
                  <a:srgbClr val="282923"/>
                </a:solidFill>
                <a:latin typeface="Arial"/>
              </a:rPr>
              <a:t xml:space="preserve">The CSV workbook contains the full source inputs, reviewed lines and notes.</a:t>
            </a:r>
            <a:endParaRPr lang="en-US" sz="2000"/>
          </a:p>
        </p:txBody>
      </p:sp>
      <p:sp>
        <p:nvSpPr>
          <p:cNvPr id="21" name="Text 21"/>
          <p:cNvSpPr txBox="1"/>
          <p:nvPr/>
        </p:nvSpPr>
        <p:spPr>
          <a:xfrm>
            <a:off x="548640" y="644652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0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000"/>
          </a:p>
        </p:txBody>
      </p:sp>
      <p:sp>
        <p:nvSpPr>
          <p:cNvPr id="22" name="Text 22"/>
          <p:cNvSpPr txBox="1"/>
          <p:nvPr/>
        </p:nvSpPr>
        <p:spPr>
          <a:xfrm>
            <a:off x="11338560" y="64282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2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3200" b="1">
                <a:solidFill>
                  <a:srgbClr val="282923"/>
                </a:solidFill>
                <a:latin typeface="Arial"/>
              </a:rPr>
              <a:t xml:space="preserve">Assumptions and next steps</a:t>
            </a:r>
            <a:endParaRPr lang="en-US" sz="3200"/>
          </a:p>
        </p:txBody>
      </p:sp>
      <p:sp>
        <p:nvSpPr>
          <p:cNvPr id="13" name="Text 13"/>
          <p:cNvSpPr txBox="1"/>
          <p:nvPr/>
        </p:nvSpPr>
        <p:spPr>
          <a:xfrm>
            <a:off x="548640" y="1508760"/>
            <a:ext cx="10972800" cy="3429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Three- and five-year totals repeat the annual costs.</a:t>
            </a:r>
            <a:endParaRPr lang="en-US" sz="2300"/>
          </a:p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No escalation, discounting or currency conversion.</a:t>
            </a:r>
            <a:endParaRPr lang="en-US" sz="2300"/>
          </a:p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Migration, hardware, services and tax are outside this comparison.</a:t>
            </a:r>
            <a:endParaRPr lang="en-US" sz="2300"/>
          </a:p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Review quantities, prices and scope before sharing results.</a:t>
            </a:r>
            <a:endParaRPr lang="en-US" sz="2300"/>
          </a:p>
          <a:p>
            <a:pPr/>
            <a:r>
              <a:rPr lang="en-US" sz="2300" b="0">
                <a:solidFill>
                  <a:srgbClr val="282923"/>
                </a:solidFill>
                <a:latin typeface="Arial"/>
              </a:rPr>
              <a:t xml:space="preserve">Use demonstration data only.</a:t>
            </a:r>
            <a:endParaRPr lang="en-US" sz="2300"/>
          </a:p>
        </p:txBody>
      </p:sp>
      <p:sp>
        <p:nvSpPr>
          <p:cNvPr id="14" name="Text 14"/>
          <p:cNvSpPr txBox="1"/>
          <p:nvPr/>
        </p:nvSpPr>
        <p:spPr>
          <a:xfrm>
            <a:off x="548640" y="5303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2000" b="0">
                <a:solidFill>
                  <a:srgbClr val="282923"/>
                </a:solidFill>
                <a:latin typeface="Arial"/>
              </a:rPr>
              <a:t xml:space="preserve">Retain the CSV workbook with this presentation for traceability.</a:t>
            </a:r>
            <a:endParaRPr lang="en-US" sz="2000"/>
          </a:p>
        </p:txBody>
      </p:sp>
      <p:sp>
        <p:nvSpPr>
          <p:cNvPr id="24" name="Text 24"/>
          <p:cNvSpPr txBox="1"/>
          <p:nvPr/>
        </p:nvSpPr>
        <p:spPr>
          <a:xfrm>
            <a:off x="548640" y="644652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000" b="0">
                <a:solidFill>
                  <a:srgbClr val="282923"/>
                </a:solidFill>
                <a:latin typeface="Arial"/>
              </a:rPr>
              <a:t xml:space="preserve">Demonstration only. Subscription costs, not a quote, licensing determination, equivalence assessment or full TCO.</a:t>
            </a:r>
            <a:endParaRPr lang="en-US" sz="1000"/>
          </a:p>
        </p:txBody>
      </p:sp>
      <p:sp>
        <p:nvSpPr>
          <p:cNvPr id="25" name="Text 25"/>
          <p:cNvSpPr txBox="1"/>
          <p:nvPr/>
        </p:nvSpPr>
        <p:spPr>
          <a:xfrm>
            <a:off x="11338560" y="64282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/>
            <a:r>
              <a:rPr lang="en-US" sz="1100" b="0">
                <a:solidFill>
                  <a:srgbClr val="282923"/>
                </a:solidFill>
                <a:latin typeface="Arial"/>
              </a:rPr>
              <a:t xml:space="preserve">4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er comparison">
  <a:themeElements>
    <a:clrScheme name="Warm neutral">
      <a:dk1>
        <a:srgbClr val="282923"/>
      </a:dk1>
      <a:lt1>
        <a:srgbClr val="FFFFFF"/>
      </a:lt1>
      <a:dk2>
        <a:srgbClr val="384239"/>
      </a:dk2>
      <a:lt2>
        <a:srgbClr val="F8F5EF"/>
      </a:lt2>
      <a:accent1>
        <a:srgbClr val="B84032"/>
      </a:accent1>
      <a:accent2>
        <a:srgbClr val="384239"/>
      </a:accent2>
      <a:accent3>
        <a:srgbClr val="8B6A47"/>
      </a:accent3>
      <a:accent4>
        <a:srgbClr val="657C72"/>
      </a:accent4>
      <a:accent5>
        <a:srgbClr val="BEA57A"/>
      </a:accent5>
      <a:accent6>
        <a:srgbClr val="6E6B63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i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