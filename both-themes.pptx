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7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20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3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26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Oracle Linux Value Navigator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548640" y="16459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000" b="1">
                <a:solidFill>
                  <a:srgbClr val="B84032"/>
                </a:solidFill>
                <a:latin typeface="Arial"/>
              </a:rPr>
              <a:t xml:space="preserve">Demo &amp; &lt;review&gt; "test"</a:t>
            </a:r>
            <a:endParaRPr lang="en-US" sz="3000"/>
          </a:p>
        </p:txBody>
      </p:sp>
      <p:sp>
        <p:nvSpPr>
          <p:cNvPr id="4" name="Text 4"/>
          <p:cNvSpPr txBox="1"/>
          <p:nvPr/>
        </p:nvSpPr>
        <p:spPr>
          <a:xfrm>
            <a:off x="548640" y="33375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400" b="0">
                <a:solidFill>
                  <a:srgbClr val="282923"/>
                </a:solidFill>
                <a:latin typeface="Arial"/>
              </a:rPr>
              <a:t xml:space="preserve">Confirmed subscription-cost comparison</a:t>
            </a:r>
            <a:endParaRPr lang="en-US" sz="2400"/>
          </a:p>
        </p:txBody>
      </p:sp>
      <p:sp>
        <p:nvSpPr>
          <p:cNvPr id="5" name="Text 5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8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800"/>
          </a:p>
          <a:p>
            <a:pPr/>
            <a:r>
              <a:rPr lang="en-US" sz="18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800"/>
          </a:p>
          <a:p>
            <a:pPr/>
            <a:r>
              <a:rPr lang="en-US" sz="18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800"/>
          </a:p>
        </p:txBody>
      </p:sp>
      <p:sp>
        <p:nvSpPr>
          <p:cNvPr id="15" name="Text 15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16" name="Text 16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6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Subscription-cost results</a:t>
            </a:r>
            <a:endParaRPr lang="en-US" sz="3200"/>
          </a:p>
        </p:txBody>
      </p:sp>
      <p:graphicFrame>
        <p:nvGraphicFramePr>
          <p:cNvPr id="7" name="Comparison table"/>
          <p:cNvGraphicFramePr/>
          <p:nvPr/>
        </p:nvGraphicFramePr>
        <p:xfrm>
          <a:off x="548640" y="1554480"/>
          <a:ext cx="11018520" cy="3108960"/>
        </p:xfrm>
        <a:graphic>
          <a:graphicData uri="http://schemas.openxmlformats.org/drawingml/2006/table">
            <a:tbl>
              <a:tblPr firstRow="1" bandRow="0"/>
              <a:tblGrid>
                <a:gridCol w="1920240"/>
                <a:gridCol w="2743200"/>
                <a:gridCol w="2743200"/>
                <a:gridCol w="3611880"/>
              </a:tblGrid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Period (USD)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RHEL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Oracle Linux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Difference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Annual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16,800.00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11,200.00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5,600.00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Three years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50,400.00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33,600.00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16,800.00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Five years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84,000.00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56,000.00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28,000.00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548640" y="5074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000" b="0">
                <a:solidFill>
                  <a:srgbClr val="282923"/>
                </a:solidFill>
                <a:latin typeface="Arial"/>
              </a:rPr>
              <a:t xml:space="preserve">Difference = RHEL minus Oracle Linux. A negative difference means Oracle Linux costs more.</a:t>
            </a:r>
            <a:endParaRPr lang="en-US" sz="2000"/>
          </a:p>
        </p:txBody>
      </p:sp>
      <p:sp>
        <p:nvSpPr>
          <p:cNvPr id="18" name="Text 18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19" name="Text 19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9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Representative review</a:t>
            </a:r>
            <a:endParaRPr lang="en-US" sz="3200"/>
          </a:p>
        </p:txBody>
      </p:sp>
      <p:graphicFrame>
        <p:nvGraphicFramePr>
          <p:cNvPr id="10" name="Comparison table"/>
          <p:cNvGraphicFramePr/>
          <p:nvPr/>
        </p:nvGraphicFramePr>
        <p:xfrm>
          <a:off x="548640" y="1463040"/>
          <a:ext cx="11018520" cy="3429000"/>
        </p:xfrm>
        <a:graphic>
          <a:graphicData uri="http://schemas.openxmlformats.org/drawingml/2006/table">
            <a:tbl>
              <a:tblPr firstRow="1" bandRow="0"/>
              <a:tblGrid>
                <a:gridCol w="8275320"/>
                <a:gridCol w="2743200"/>
              </a:tblGrid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Review measure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Count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Confirmed RHEL lines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Confirmed Oracle Linux lines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Aligned comparison groups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Excluded lines (not in totals)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</a:tr>
            </a:tbl>
          </a:graphicData>
        </a:graphic>
      </p:graphicFrame>
      <p:sp>
        <p:nvSpPr>
          <p:cNvPr id="11" name="Text 11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000" b="0">
                <a:solidFill>
                  <a:srgbClr val="282923"/>
                </a:solidFill>
                <a:latin typeface="Arial"/>
              </a:rPr>
              <a:t xml:space="preserve">The CSV workbook contains the full source inputs, reviewed lines and notes.</a:t>
            </a:r>
            <a:endParaRPr lang="en-US" sz="2000"/>
          </a:p>
        </p:txBody>
      </p:sp>
      <p:sp>
        <p:nvSpPr>
          <p:cNvPr id="21" name="Text 21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22" name="Text 22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2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Assumptions and next steps</a:t>
            </a:r>
            <a:endParaRPr lang="en-US" sz="3200"/>
          </a:p>
        </p:txBody>
      </p:sp>
      <p:sp>
        <p:nvSpPr>
          <p:cNvPr id="13" name="Text 13"/>
          <p:cNvSpPr txBox="1"/>
          <p:nvPr/>
        </p:nvSpPr>
        <p:spPr>
          <a:xfrm>
            <a:off x="548640" y="1508760"/>
            <a:ext cx="10972800" cy="3429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Three- and five-year totals repeat the annual costs.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No escalation, discounting or currency conversion.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Migration, hardware, services and tax are outside this comparison.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Review quantities, prices and scope before sharing results.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Use demonstration data only.</a:t>
            </a:r>
            <a:endParaRPr lang="en-US" sz="2300"/>
          </a:p>
        </p:txBody>
      </p:sp>
      <p:sp>
        <p:nvSpPr>
          <p:cNvPr id="14" name="Text 14"/>
          <p:cNvSpPr txBox="1"/>
          <p:nvPr/>
        </p:nvSpPr>
        <p:spPr>
          <a:xfrm>
            <a:off x="548640" y="5303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000" b="0">
                <a:solidFill>
                  <a:srgbClr val="282923"/>
                </a:solidFill>
                <a:latin typeface="Arial"/>
              </a:rPr>
              <a:t xml:space="preserve">Retain the CSV workbook with this presentation for traceability.</a:t>
            </a:r>
            <a:endParaRPr lang="en-US" sz="2000"/>
          </a:p>
        </p:txBody>
      </p:sp>
      <p:sp>
        <p:nvSpPr>
          <p:cNvPr id="24" name="Text 24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25" name="Text 25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4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er comparison">
  <a:themeElements>
    <a:clrScheme name="Warm neutral">
      <a:dk1>
        <a:srgbClr val="282923"/>
      </a:dk1>
      <a:lt1>
        <a:srgbClr val="FFFFFF"/>
      </a:lt1>
      <a:dk2>
        <a:srgbClr val="384239"/>
      </a:dk2>
      <a:lt2>
        <a:srgbClr val="F8F5EF"/>
      </a:lt2>
      <a:accent1>
        <a:srgbClr val="B84032"/>
      </a:accent1>
      <a:accent2>
        <a:srgbClr val="384239"/>
      </a:accent2>
      <a:accent3>
        <a:srgbClr val="8B6A47"/>
      </a:accent3>
      <a:accent4>
        <a:srgbClr val="657C72"/>
      </a:accent4>
      <a:accent5>
        <a:srgbClr val="BEA57A"/>
      </a:accent5>
      <a:accent6>
        <a:srgbClr val="6E6B63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Customer comparison">
  <a:themeElements>
    <a:clrScheme name="Warm neutral">
      <a:dk1>
        <a:srgbClr val="282923"/>
      </a:dk1>
      <a:lt1>
        <a:srgbClr val="FFFFFF"/>
      </a:lt1>
      <a:dk2>
        <a:srgbClr val="384239"/>
      </a:dk2>
      <a:lt2>
        <a:srgbClr val="F8F5EF"/>
      </a:lt2>
      <a:accent1>
        <a:srgbClr val="B84032"/>
      </a:accent1>
      <a:accent2>
        <a:srgbClr val="384239"/>
      </a:accent2>
      <a:accent3>
        <a:srgbClr val="8B6A47"/>
      </a:accent3>
      <a:accent4>
        <a:srgbClr val="657C72"/>
      </a:accent4>
      <a:accent5>
        <a:srgbClr val="BEA57A"/>
      </a:accent5>
      <a:accent6>
        <a:srgbClr val="6E6B63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